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2" r:id="rId11"/>
    <p:sldId id="27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916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9041-1262-3E02-7A1D-9CBE58C85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3BDFE-14BB-6430-9A62-77B029CBB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D26CF-5225-E395-5621-31FADF81E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27B8B-C35D-90B8-6190-C07C9F436E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92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27963-C2C5-BC9C-6AF1-6B53BA5D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A19BC-BB29-ED04-C6A5-FADF627C0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E418E-2845-20CA-EE4A-4578BA254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1A1B9-0A91-2826-7DB8-A925F1870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40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5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5111496"/>
            <a:ext cx="9144000" cy="5486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138" y="182880"/>
            <a:ext cx="1617542" cy="1617542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2296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Enhancement of Growth &amp; Yield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C3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 Fodder Maize (</a:t>
            </a:r>
            <a:r>
              <a:rPr lang="en-US" sz="2400" b="1" i="1" dirty="0">
                <a:solidFill>
                  <a:srgbClr val="4FC3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Zea mays</a:t>
            </a:r>
            <a:r>
              <a:rPr lang="en-US" sz="2400" b="1" dirty="0">
                <a:solidFill>
                  <a:srgbClr val="4FC3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Application of Nano Urea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5943600" cy="2743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633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EAI – 421  |  Application of AI &amp; ML in Agriculture  |  Capstone Project</a:t>
            </a:r>
            <a:endParaRPr lang="en-US" sz="1400" dirty="0">
              <a:latin typeface="Bahnschrift SemiBold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3124883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C3F7"/>
                </a:solidFill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Chandana.K (AMB 2043)  |  Dechamma M.D (AMB 2051)  |  Jayashree L (AMB 2093)</a:t>
            </a:r>
            <a:endParaRPr lang="en-US" sz="12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FC3F7"/>
                </a:solidFill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IV-year B.Sc. (Hons) Agriculture  |  UASB, GKVK, Bangalore – 560065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0" y="4185981"/>
            <a:ext cx="9144000" cy="82296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82880" y="431596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Agricultural Sciences, GKVK  ·  College of Agriculture, Bangalore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76DAC3-D01A-BBFE-C0C0-02E26275062E}"/>
              </a:ext>
            </a:extLst>
          </p:cNvPr>
          <p:cNvSpPr txBox="1"/>
          <p:nvPr/>
        </p:nvSpPr>
        <p:spPr>
          <a:xfrm>
            <a:off x="358141" y="0"/>
            <a:ext cx="8589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0D9D0B5-AF07-8294-873C-2E0F58F36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995771"/>
              </p:ext>
            </p:extLst>
          </p:nvPr>
        </p:nvGraphicFramePr>
        <p:xfrm>
          <a:off x="358141" y="515218"/>
          <a:ext cx="3726179" cy="44823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26179">
                  <a:extLst>
                    <a:ext uri="{9D8B030D-6E8A-4147-A177-3AD203B41FA5}">
                      <a16:colId xmlns:a16="http://schemas.microsoft.com/office/drawing/2014/main" val="2546884139"/>
                    </a:ext>
                  </a:extLst>
                </a:gridCol>
              </a:tblGrid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1. Abstract &amp; Problem Statement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86168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2. Introduction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015258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3. Review of Literature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732041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4. Research Objectives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307069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5. Materials &amp; Methods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30306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6. System Block Diagram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29199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7. Research flowchart &amp; UML Activity Diagram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74735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3CC873A-AE9E-632E-10B8-88E76CB7C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094308"/>
              </p:ext>
            </p:extLst>
          </p:nvPr>
        </p:nvGraphicFramePr>
        <p:xfrm>
          <a:off x="4989919" y="515218"/>
          <a:ext cx="3995376" cy="44823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95376">
                  <a:extLst>
                    <a:ext uri="{9D8B030D-6E8A-4147-A177-3AD203B41FA5}">
                      <a16:colId xmlns:a16="http://schemas.microsoft.com/office/drawing/2014/main" val="1364876996"/>
                    </a:ext>
                  </a:extLst>
                </a:gridCol>
              </a:tblGrid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8. UML Class Diagram &amp; Use Case Diagram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26732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9. Experimental Results 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122476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10. Data Visualization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62291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11. Data Visualization Code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447138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12. Results &amp; Discussion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8720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13. Future Scope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08930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14. Summary &amp; Conclusion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758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90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V="1">
            <a:off x="256032" y="1088136"/>
            <a:ext cx="859536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98448"/>
            <a:ext cx="4160520" cy="141732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4160520" cy="25603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298448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591056"/>
            <a:ext cx="39776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Normal &amp; Nano Urea foliar spray on Fodder Maize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RCBD design · 7 treatments · 3 replications · Kharif 2024-25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Growth tracked at 30, 45 &amp; 60 DAS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Best: T7 → 5.4 kg/plot fresh biomass (+74% over control)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816352"/>
            <a:ext cx="1280160" cy="868680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2871216"/>
            <a:ext cx="128016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" y="3320186"/>
            <a:ext cx="128016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in Karnataka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00200" y="2816352"/>
            <a:ext cx="1280160" cy="868680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00200" y="2871216"/>
            <a:ext cx="128016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00200" y="3320186"/>
            <a:ext cx="128016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fodder crops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44368" y="2816352"/>
            <a:ext cx="1463040" cy="8686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44368" y="2871216"/>
            <a:ext cx="146304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944368" y="3320186"/>
            <a:ext cx="146304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fodder deficit (ICAR)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1298448"/>
            <a:ext cx="4370832" cy="2395728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1298448"/>
            <a:ext cx="4370832" cy="256032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1298448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1591056"/>
            <a:ext cx="4187952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Karnataka's 122 MT green fodder demand vs. severe supply deficit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Conventional urea suffers N losses: leaching, volatilization, denitrification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Nano Urea (20–50 nm particles) → superior stomatal absorption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Optimal Normal + Nano Urea combo for Karnataka not studied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research addresses the gap systematically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" y="3822192"/>
            <a:ext cx="8641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Urea: controlled-release · high surface area · improved NUE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Fodder Maize? Why Nano Urea?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98448"/>
            <a:ext cx="2697480" cy="192024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98448"/>
            <a:ext cx="2697480" cy="256032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298448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Fodder Crisis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1591056"/>
            <a:ext cx="2514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Forages = backbone of livestock industry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Karnataka: 28.6M livestock, only 3.5% area under fodder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Dairy farmers resort to costly concentrates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Maize = most nutritious non-legume green fodder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1298448"/>
            <a:ext cx="2697480" cy="192024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298448"/>
            <a:ext cx="2697480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298448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Facts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54680" y="1591056"/>
            <a:ext cx="2514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most cultivated crop globally (180.64 Mha)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Africa Tall variety used in this study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biomass, palatable, protein-rich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from anti-nutritional factors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70448" y="1298448"/>
            <a:ext cx="3017520" cy="192024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70448" y="1298448"/>
            <a:ext cx="3017520" cy="25603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29844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Urea Advantages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61888" y="1591056"/>
            <a:ext cx="2834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size: 20–50 nm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Applied as 2% foliar spray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Superior stomatal penetration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40–50% less N loss vs conventional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3328416"/>
            <a:ext cx="8641080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328416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HIGHLIGHTS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621024"/>
            <a:ext cx="1627632" cy="777240"/>
          </a:xfrm>
          <a:prstGeom prst="rect">
            <a:avLst/>
          </a:prstGeom>
          <a:solidFill>
            <a:srgbClr val="EBF5F0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63931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 Design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" y="39684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 Treatments × 3 Replications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93392" y="3621024"/>
            <a:ext cx="1627632" cy="777240"/>
          </a:xfrm>
          <a:prstGeom prst="rect">
            <a:avLst/>
          </a:prstGeom>
          <a:solidFill>
            <a:srgbClr val="EBF5F0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363931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Spray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93392" y="39684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Normal + Nano Urea @ 2%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30752" y="3621024"/>
            <a:ext cx="1627632" cy="777240"/>
          </a:xfrm>
          <a:prstGeom prst="rect">
            <a:avLst/>
          </a:prstGeom>
          <a:solidFill>
            <a:srgbClr val="EBF5F0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752" y="363931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30752" y="39684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30, 45, 60 DAS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68112" y="3621024"/>
            <a:ext cx="1627632" cy="777240"/>
          </a:xfrm>
          <a:prstGeom prst="rect">
            <a:avLst/>
          </a:prstGeom>
          <a:solidFill>
            <a:srgbClr val="EBF5F0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8112" y="363931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Metrics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68112" y="39684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Fresh Biomass + Dry Weight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05472" y="3621024"/>
            <a:ext cx="1627632" cy="777240"/>
          </a:xfrm>
          <a:prstGeom prst="rect">
            <a:avLst/>
          </a:prstGeom>
          <a:solidFill>
            <a:srgbClr val="EBF5F0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363931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05472" y="39684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Fischer's ANOVA + CD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36576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98448"/>
            <a:ext cx="4206240" cy="128016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80160"/>
            <a:ext cx="4206240" cy="256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29844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al., 2019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591056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kg N/ha → higher plant height, leaf area, yield vs. 100 kg N/ha. Nano Urea (250 kg/ha) &gt; Normal Urea (350 kg/ha) in yield.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304754"/>
            <a:ext cx="4206240" cy="128016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298448"/>
            <a:ext cx="4206240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98448"/>
            <a:ext cx="4059936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Amjad et al., 2021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6592" y="1591056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Optimum: 150 kg N/ha Nano Urea → highest maize yield + highest net return. Recommended as optimal dose.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" y="2715768"/>
            <a:ext cx="4206240" cy="128016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715768"/>
            <a:ext cx="4206240" cy="25603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71576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Abdel-Salam, 2020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" y="3008376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yield at 180 kg/ha Nano Urea. Excess (&gt;240 kg/ha) → lodging and yield reduction.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45152" y="2715768"/>
            <a:ext cx="4206240" cy="128016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2715768"/>
            <a:ext cx="4206240" cy="256032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71576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Tariq et al., 2019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3008376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kg N/ha Nano Urea &gt; 200 kg N/ha Normal Urea in fodder weight &amp; crude protein content.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6032" y="4187952"/>
            <a:ext cx="8641080" cy="65836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20624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Overall: Combined Normal + Nano Urea foliar spray at critical growth stages consistently outperforms conventional basal application alone. Optimal Nano Urea level ≈ 150 kg/ha.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142240"/>
            <a:ext cx="9144000" cy="45719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sp>
      <p:sp>
        <p:nvSpPr>
          <p:cNvPr id="5" name="Text 3"/>
          <p:cNvSpPr/>
          <p:nvPr/>
        </p:nvSpPr>
        <p:spPr>
          <a:xfrm>
            <a:off x="3657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using Bloom's Taxonomy Action Verbs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1078992"/>
          </a:xfrm>
          <a:prstGeom prst="rect">
            <a:avLst/>
          </a:prstGeom>
          <a:solidFill>
            <a:srgbClr val="1E3A4A"/>
          </a:solidFill>
          <a:ln w="19050">
            <a:solidFill>
              <a:srgbClr val="0D7EFF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270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27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4356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7830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comprehensive dataset of growth &amp; yield parameters across 7 treatment combinations — plant height, leaf count, fresh biomass — at 30, 45 &amp; 60 DAS using RCBD</a:t>
            </a: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8412480" cy="1078992"/>
          </a:xfrm>
          <a:prstGeom prst="rect">
            <a:avLst/>
          </a:prstGeom>
          <a:solidFill>
            <a:srgbClr val="1E3A4A"/>
          </a:solidFill>
          <a:ln w="19050">
            <a:solidFill>
              <a:srgbClr val="00C8FF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697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295351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effect of Normal &amp; Nano Urea foliar spray levels on growth parameters and yield attributes under semi-arid Kharif 2024-25 field conditions.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66744"/>
            <a:ext cx="8412480" cy="1078992"/>
          </a:xfrm>
          <a:prstGeom prst="rect">
            <a:avLst/>
          </a:prstGeom>
          <a:solidFill>
            <a:srgbClr val="1E3A4A"/>
          </a:solidFill>
          <a:ln w="19050">
            <a:solidFill>
              <a:srgbClr val="1456CC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86791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37764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4123944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economic viability via Benefit-Cost Ratio (BCR) — comparing gross returns, net returns &amp; cultivation cost across all 7 treatments</a:t>
            </a: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Methods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36576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691225"/>
              </p:ext>
            </p:extLst>
          </p:nvPr>
        </p:nvGraphicFramePr>
        <p:xfrm>
          <a:off x="256032" y="1298448"/>
          <a:ext cx="4114800" cy="2331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/ Variety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Fodder Maize (Zea mays) – African Tall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 / Design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Kharif 2024-25  ·  RCBD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Spacing / Seed Rate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× 10 cm  ·  20 kg/ha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Plots / Replications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plots  ·  3 replications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Sowing → Harvest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16/09/2024 → 17/11/2024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Type / pH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Sandy Clay Loam  ·  pH 6.46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RDF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: 75 : 40  NPK kg/ha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4526280" y="12984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Combinations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26280" y="1572768"/>
            <a:ext cx="475488" cy="283464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26280" y="1572768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0" y="1572768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02352" y="1572768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100% RDF (Control)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26280" y="1911096"/>
            <a:ext cx="475488" cy="283464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1911096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0" y="1911096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02352" y="1911096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50% RDN + Normal Urea @ 40 DAS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26280" y="2249424"/>
            <a:ext cx="475488" cy="283464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49424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0" y="2249424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2249424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50% RDN + Nano Urea @ 40 DAS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26280" y="2587752"/>
            <a:ext cx="475488" cy="283464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87752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T₄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0" y="2587752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02352" y="2587752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75% RDN + Normal Urea @ 40 DAS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26280" y="2926080"/>
            <a:ext cx="475488" cy="283464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26080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T₅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29200" y="2926080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02352" y="2926080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75% RDN + Nano Urea @ 40 DAS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26280" y="3264408"/>
            <a:ext cx="475488" cy="28346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264408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T₆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029200" y="3264408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02352" y="3264408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100% RDF + N+N Urea @ 40 DAS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26280" y="3602736"/>
            <a:ext cx="475488" cy="283464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3602736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T₇ ★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29200" y="3602736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02352" y="3602736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100% RDF + N+N @ 25 &amp; 40 DAS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56032" y="4114800"/>
            <a:ext cx="8641080" cy="525780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" y="4114800"/>
            <a:ext cx="85039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Operations:  Land preparation 14/09 · Sowing 5cm depth 16/09 · Weed management 25-30 DAS · Fall Army Worm → Emamectin benzoate 55G @200g/ha · Harvest: sickle @ dough stage 17/11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56032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3657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experimental workflow from inputs to optimal treatment recommendation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647700"/>
            <a:ext cx="8595360" cy="914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68630" y="697992"/>
            <a:ext cx="8206740" cy="43997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7452" y="167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Flowchart  &amp;  UML Activity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7452" y="661416"/>
            <a:ext cx="8595360" cy="914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3B377A-A0E1-27BC-6C30-0A67CF9C5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67" t="9733" r="-167" b="9783"/>
          <a:stretch>
            <a:fillRect/>
          </a:stretch>
        </p:blipFill>
        <p:spPr>
          <a:xfrm>
            <a:off x="106680" y="748284"/>
            <a:ext cx="8945880" cy="4326636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2404872" y="74980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Process Flowchart</a:t>
            </a:r>
            <a:endParaRPr lang="en-US" sz="1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33F9D-9421-0E73-AE66-FAD64AB4F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782A8B1A-3516-B82C-24B3-73526B4ED6E9}"/>
              </a:ext>
            </a:extLst>
          </p:cNvPr>
          <p:cNvSpPr/>
          <p:nvPr/>
        </p:nvSpPr>
        <p:spPr>
          <a:xfrm rot="5400000" flipV="1">
            <a:off x="6557009" y="2567177"/>
            <a:ext cx="5143501" cy="914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FF7D3619-12F9-94DC-3E05-16843D263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263394" y="67055"/>
            <a:ext cx="6339839" cy="4990937"/>
          </a:xfrm>
          <a:prstGeom prst="rect">
            <a:avLst/>
          </a:prstGeom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3F00A0D7-D57D-49B9-C83D-3ED371AA63B4}"/>
              </a:ext>
            </a:extLst>
          </p:cNvPr>
          <p:cNvSpPr/>
          <p:nvPr/>
        </p:nvSpPr>
        <p:spPr>
          <a:xfrm rot="5400000" flipV="1">
            <a:off x="-2565655" y="2567177"/>
            <a:ext cx="5143500" cy="914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sp>
    </p:spTree>
    <p:extLst>
      <p:ext uri="{BB962C8B-B14F-4D97-AF65-F5344CB8AC3E}">
        <p14:creationId xmlns:p14="http://schemas.microsoft.com/office/powerpoint/2010/main" val="2153618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03793-B364-617D-21E5-8E248172F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B0060D1-D0E7-CB2B-B55A-DEE81BD17A3F}"/>
              </a:ext>
            </a:extLst>
          </p:cNvPr>
          <p:cNvSpPr/>
          <p:nvPr/>
        </p:nvSpPr>
        <p:spPr>
          <a:xfrm>
            <a:off x="256032" y="1600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  &amp;  Use Case Diagram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9AE016-CC2F-E288-4663-D09648F9203D}"/>
              </a:ext>
            </a:extLst>
          </p:cNvPr>
          <p:cNvSpPr/>
          <p:nvPr/>
        </p:nvSpPr>
        <p:spPr>
          <a:xfrm>
            <a:off x="274320" y="617220"/>
            <a:ext cx="8595360" cy="914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0287184-9EF4-59B1-1F0A-6A8FC4AD17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260" y="701040"/>
            <a:ext cx="877062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181100" y="68580"/>
            <a:ext cx="6629400" cy="50215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— Key Data Tables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72896"/>
            <a:ext cx="859536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26187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Height (cm) — 30 DAS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932688"/>
              </p:ext>
            </p:extLst>
          </p:nvPr>
        </p:nvGraphicFramePr>
        <p:xfrm>
          <a:off x="256032" y="1536192"/>
          <a:ext cx="3703320" cy="17678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R-II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R-III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37.8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T₃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T₄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T₅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T₆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45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T₇ 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45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480560" y="126187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@ 60 DAS  &amp;  Fresh Biomass Yield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172850"/>
              </p:ext>
            </p:extLst>
          </p:nvPr>
        </p:nvGraphicFramePr>
        <p:xfrm>
          <a:off x="4480560" y="1536192"/>
          <a:ext cx="4434840" cy="176784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Leaves/Plant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Biomass (kg)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T₃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T₄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T₅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T₆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45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T₇ 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45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45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56032" y="3439668"/>
            <a:ext cx="8641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— Plant Height @ 30 DAS</a:t>
            </a:r>
            <a:endParaRPr lang="en-US" sz="10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994624"/>
              </p:ext>
            </p:extLst>
          </p:nvPr>
        </p:nvGraphicFramePr>
        <p:xfrm>
          <a:off x="256032" y="3690366"/>
          <a:ext cx="6674490" cy="1104900"/>
        </p:xfrm>
        <a:graphic>
          <a:graphicData uri="http://schemas.openxmlformats.org/drawingml/2006/table">
            <a:tbl>
              <a:tblPr/>
              <a:tblGrid>
                <a:gridCol w="144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2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2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F-tab 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F-tab 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7.68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5.14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281.74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93.91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11.39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98.98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8.24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256032" y="4797552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F-cal (0.93) &lt; F-tab (5.14 @ 5%) → No significant difference at 30 DAS — early-stage uniformity confirmed before spray treatments took effect.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8620" y="868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— Growth &amp; Yield Charts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01752" y="585216"/>
            <a:ext cx="859536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1440" y="690372"/>
            <a:ext cx="8983980" cy="413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82041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Plant Height at 30/45/60 DAS across T1–T7  ·  Centre: Fresh Biomass Yield (T7 = Red = Best)  ·  Right: Leaves per Plant at 30 &amp; 60 DAS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Code — Matplotlib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425196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144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Current Experiment Visualization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120700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347472" y="134874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347472" y="163220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treatments = ['T1','T2','T3','T4','T5','T6','T7']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347472" y="177393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height_30 = [41.53,42.93,43.86,43.93,43.93,43.13,46.80]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47472" y="191566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height_45 = [70.30,77.13,78.73,78.40,70.80,67.00,79.93]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47472" y="205740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height_60 = [80.66,84.00,89.33,86.00,86.00,83.33,85.33]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47472" y="219913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fresh_wt  = [0.70,0.93,1.16,1.40,1.53,1.63,1.80]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47472" y="248259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plt.subplots(1,2,figsize=(14,6))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47472" y="262432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np.arange(len(treatments)); w = 0.25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47472" y="276606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ax[0].bar(x-w, height_30, w, label='30DAS')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47472" y="290779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ax[0].bar(x,   height_45, w, label='45DAS')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47472" y="304952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ax[0].bar(x+w, height_60, w, label='60DAS')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347472" y="319125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ax[0].set_title('Plant Height at 30/45/60 DAS')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47472" y="347472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colors=['#C00000' if t=='T7' else '#2E75B6'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347472" y="361645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 in treatments]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47472" y="375818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ax[1].bar(treatments, fresh_wt, color=colors)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47472" y="389991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ax[1].set_title('Fresh Biomass Yield')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47472" y="404164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645152" y="868680"/>
            <a:ext cx="425196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9144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Base Paper Comparison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6592" y="120700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 = ['Ht30','Ht45','Ht60',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4736592" y="134874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'Lv30','Lv60','FreshWt']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4736592" y="149047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= [46.80,79.93,85.33,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4736592" y="163220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7.26,14.13,1.80]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4736592" y="177393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   = [42.50,74.20,88.60,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4736592" y="191566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6.80,13.50,1.40]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4736592" y="219913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fig,ax = plt.subplots(1,2,figsize=(14,6))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736592" y="234086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x=np.arange(len(params)); w=0.35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736592" y="262432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ax[0].bar(x-w/2,present,w,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736592" y="276606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label='Present Study T7')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4736592" y="290779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ax[0].bar(x+w/2,base,w,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4736592" y="304952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label='Singh 2019')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4736592" y="319125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ax[0].legend()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736592" y="347472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impr=[(p-b)/b*100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4736592" y="361645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p,b in zip(present,base)]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736592" y="375818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cols=['#70AD47' if i&gt;=0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4736592" y="389991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'#C00000' for i in impr]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4736592" y="404164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ax[1].bar(params, impr, color=cols)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4736592" y="418338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ax[1].axhline(0,color='k',ls='--')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736592" y="432511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763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Study vs. Base Paper (Singh et al., 2019)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58240"/>
            <a:ext cx="859536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98448"/>
            <a:ext cx="2834640" cy="1115568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98448"/>
            <a:ext cx="2834640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29844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591056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= 46.80 cm (30DAS) vs T1 = 41.53 cm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Dual-timing N supply → vegetative &amp; rapid growth phases both covered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particle (20–50nm) → superior stomatal penetration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2487168"/>
            <a:ext cx="2834640" cy="1115568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487168"/>
            <a:ext cx="2834640" cy="25603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4871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per Plant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2779776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= 7.26 (30DAS), 14.13 (60DAS) — highest at all stages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count directly correlates with height &amp; Nano Urea dose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Tariq et al. (2019) findings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3675888"/>
            <a:ext cx="2834640" cy="109728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3675888"/>
            <a:ext cx="2834640" cy="256032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367588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Yield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3968496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= 5.4 kg total  ·  1.80 kg/plot mean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+157% over T1 (0.70 kg mean)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Singh (2018) &amp; Amjad (2021)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129844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810565"/>
              </p:ext>
            </p:extLst>
          </p:nvPr>
        </p:nvGraphicFramePr>
        <p:xfrm>
          <a:off x="3291840" y="1572768"/>
          <a:ext cx="5577840" cy="2194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Study (T7)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Singh 2019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 @ 30 DAS (cm)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 @ 45 DAS (cm)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79.93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 @ 60 DAS (cm)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85.33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5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@ 30 DAS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7.26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@ 60 DAS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14.13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Biomass (kg)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Application Mode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Foliar + Nano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only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Superior 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396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Directions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44880"/>
            <a:ext cx="859536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98448"/>
            <a:ext cx="4160520" cy="2743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984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Integration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1627632"/>
            <a:ext cx="4160520" cy="987552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627632"/>
            <a:ext cx="4160520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62763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Monitoring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19202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Multispectral images → predict N Deficiency Index → dynamic spray triggers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2724912"/>
            <a:ext cx="4160520" cy="987552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724912"/>
            <a:ext cx="4160520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72491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Dosage Opt.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" y="30175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XGBoost → optimal N ratio per soil type &amp; climate zone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3822192"/>
            <a:ext cx="4160520" cy="987552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822192"/>
            <a:ext cx="4160520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382219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Advisory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" y="41148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in Kannada/Telugu/Hindi → farm-level precision spray guidance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36592" y="1298448"/>
            <a:ext cx="4160520" cy="2743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2984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IoT Integration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36592" y="1627632"/>
            <a:ext cx="4160520" cy="987552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627632"/>
            <a:ext cx="4160520" cy="256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162763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Sensors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28032" y="19202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/ moisture / pH IoT probes → real-time N monitoring → auto spray alerts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36592" y="2724912"/>
            <a:ext cx="4160520" cy="987552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2724912"/>
            <a:ext cx="4160520" cy="256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272491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Spraying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28032" y="30175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NDVI-mapped variable-rate Nano Urea spray via GPS drones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36592" y="3822192"/>
            <a:ext cx="4160520" cy="987552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3822192"/>
            <a:ext cx="4160520" cy="256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382219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Network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28032" y="41148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wide-area sensor coverage → cost-effective for Karnataka farms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4628388"/>
            <a:ext cx="8641080" cy="449580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572000"/>
            <a:ext cx="8503920" cy="449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Extend to sorghum/cowpea/napier grass  ·  Multi-location Karnataka trials  ·  Nano Urea + biostimulants (seaweed, fulvic acid)  ·  Soil microbiome studies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120640"/>
            <a:ext cx="9144000" cy="45719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75132"/>
            <a:ext cx="548640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77824"/>
            <a:ext cx="1828800" cy="96012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32688"/>
            <a:ext cx="18288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434694"/>
            <a:ext cx="1828800" cy="403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gain over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(T1)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877824"/>
            <a:ext cx="1828800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932688"/>
            <a:ext cx="18288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77440" y="1434694"/>
            <a:ext cx="1828800" cy="403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biomass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vs T1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877824"/>
            <a:ext cx="1828800" cy="960120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0" y="932688"/>
            <a:ext cx="18288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97680" y="1434694"/>
            <a:ext cx="1828800" cy="403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Treatment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100%RDF+N+N@25&amp;40DAS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877824"/>
            <a:ext cx="2395728" cy="960120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932688"/>
            <a:ext cx="2395728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46.80cm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1434694"/>
            <a:ext cx="2395728" cy="403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plant ht @30DAS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41.53cm control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1920240"/>
            <a:ext cx="8412480" cy="256032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9202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231136"/>
            <a:ext cx="201168" cy="29260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31136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2249424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(100% RDF + Normal &amp; Nano Urea @ 2% at 25 DAS &amp; 40 DAS) outperformed all treatments at all growth stages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633472"/>
            <a:ext cx="201168" cy="29260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33472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265176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Dual-timing foliar spray ensures N availability during vegetative establishment (25 DAS) AND rapid growth (40 DAS)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035808"/>
            <a:ext cx="201168" cy="29260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3580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305409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(50% RDN + Normal Urea @ 40 DAS only) gave the lowest yield — reducing basal N without full foliar compensation is counterproductive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38144"/>
            <a:ext cx="201168" cy="29260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38144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34564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F-cal (0.93) &lt; F-tab (5.14 @ 5%) — confirms early-stage uniformity; treatment effects manifest from foliar application onwards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201168" cy="29260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840480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385876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Karnataka's 4.6M ton fodder deficit can be partially addressed by adopting T7 as the optimized nitrogen management strategy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29184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764024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Agricultural Sciences, GKVK · College of Agriculture, Bangalore · Kharif 2024-25  |  EAI-421 Capstone Project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E3A5F"/>
      </a:dk2>
      <a:lt2>
        <a:srgbClr val="1A2540"/>
      </a:lt2>
      <a:accent1>
        <a:srgbClr val="0D7EFF"/>
      </a:accent1>
      <a:accent2>
        <a:srgbClr val="00C8FF"/>
      </a:accent2>
      <a:accent3>
        <a:srgbClr val="4A5568"/>
      </a:accent3>
      <a:accent4>
        <a:srgbClr val="00C8FF"/>
      </a:accent4>
      <a:accent5>
        <a:srgbClr val="2563EB"/>
      </a:accent5>
      <a:accent6>
        <a:srgbClr val="0D7EF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2082</Words>
  <Application>Microsoft Office PowerPoint</Application>
  <PresentationFormat>On-screen Show (16:9)</PresentationFormat>
  <Paragraphs>380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Rounded MT Bold</vt:lpstr>
      <vt:lpstr>Bahnschrift SemiBold</vt:lpstr>
      <vt:lpstr>Berlin Sans FB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Enhancement of Growth and Yield of Fodder Maize through Nano Urea</dc:title>
  <dc:subject>PptxGenJS Presentation</dc:subject>
  <dc:creator>PptxGenJS</dc:creator>
  <cp:lastModifiedBy>Dechamma MD</cp:lastModifiedBy>
  <cp:revision>5</cp:revision>
  <dcterms:created xsi:type="dcterms:W3CDTF">2026-04-01T04:25:58Z</dcterms:created>
  <dcterms:modified xsi:type="dcterms:W3CDTF">2026-04-01T18:25:16Z</dcterms:modified>
</cp:coreProperties>
</file>